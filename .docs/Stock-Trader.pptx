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P2GG74c6caEgq5jjBPzAWrHqW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48640" y="2194560"/>
            <a:ext cx="1086581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Stock Trader 사용자 가이드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48640" y="3611880"/>
            <a:ext cx="108658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AI 기반 한국 주식시장 트레이딩 대시보드 사용 설명서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"/>
          <p:cNvCxnSpPr/>
          <p:nvPr/>
        </p:nvCxnSpPr>
        <p:spPr>
          <a:xfrm>
            <a:off x="548640" y="5760720"/>
            <a:ext cx="5943600" cy="0"/>
          </a:xfrm>
          <a:prstGeom prst="straightConnector1">
            <a:avLst/>
          </a:prstGeom>
          <a:noFill/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8" name="Google Shape;88;p1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AX Labs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48640" y="61904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v2.31  |  2026-06-19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시스템 개요 — 7개 핵심 모듈 &amp; 4종 페르소나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2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8" name="Google Shape;98;p2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9" name="Google Shape;99;p2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 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Source: 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411480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11480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502920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984482" y="1874519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84482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502920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종목 검색 및 실시간 지수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현재가·RSI·볼린저 카드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에이전트 결정 표시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2051260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2051260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2142700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포트폴리오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2624262" y="1874519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624262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2142700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보유 종목 현황 및 손익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평가손익·잔여예수금·총기자산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종목별 수익률·비중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3691040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3691040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3782480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전략·스크리너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4264043" y="1874519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4264043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3782480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9가지 필터 조건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스캔→매칭 종목 리스트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결과 클릭→대시보드 이동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5330821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5330821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5422261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리스크 모니터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5903823" y="1874519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5903823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5422261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종목코드 입력 조회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KRX 시장경보 상태 표시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공매도 추이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6970601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6970601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7062041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백테스팅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543604" y="1874519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7543604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7062041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규칙기반 4종 전략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강화학습 4종 알고리즘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수익률·샤프·낙폭·승률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8610382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8610382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8701822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에이전트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9183384" y="1874519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9183384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8701822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6단계 자동 파이프라인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BUY/SELL/HOLD + 신뢰도%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페르소나별 포지션 비중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10250162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10250162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10341602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서비스 상태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10823164" y="1874519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10823164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10341602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ingest·analysis·agents·risk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녹색=정상 / 적색=오류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사이드바 하단 상태 도트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411475" y="5974750"/>
            <a:ext cx="2518800" cy="274200"/>
          </a:xfrm>
          <a:prstGeom prst="rect">
            <a:avLst/>
          </a:prstGeom>
          <a:solidFill>
            <a:srgbClr val="2E9B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502925" y="6026725"/>
            <a:ext cx="251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페르소나: 스캘퍼 · 데이 · 스윙 · 포지션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로그인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3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4" name="Google Shape;154;p3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5" name="Google Shape;155;p3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502920" y="1691640"/>
            <a:ext cx="3931920" cy="4617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로그인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이메일 주소 입력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비밀번호 입력 후 로그인 버튼 클릭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편의 옵션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아이디 기억하기: 이메일 자동 채움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자동로그인: 재방문 시 자동 인증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계정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회원가입 링크 클릭으로 신규 계정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이름·이메일·비밀번호 입력 필요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-login.png" id="157" name="Google Shape;1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91640"/>
            <a:ext cx="7116775" cy="4617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대시보드 — 상단: TopBar &amp; 핵심 지표 카드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4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6" name="Google Shape;166;p4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7" name="Google Shape;167;p4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502920" y="1691640"/>
            <a:ext cx="3931920" cy="4617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TopBar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종목코드/기업명 검색 후 조회 버튼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KOSPI · KOSDAQ · KRX300 실시간 지수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SIMULATION 배지: 모의거래 모드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다크/라이트 모드 토글 (우측)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핵심 지표 카드 (5종)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현재가: 실시간 체결가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RSI: 과매수·과매도 판단 지수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볼린저밴드: 상단·하단 밴드값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지표시그널: BUY/SELL/HOLD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에이전트결정: 신뢰도·포지션 비중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2-dashboard-top.png" id="169" name="Google Shape;1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91640"/>
            <a:ext cx="7116775" cy="4617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대시보드 — 하단: 차트·기술지표·수급·리스크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5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8" name="Google Shape;178;p5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9" name="Google Shape;179;p5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502920" y="1691640"/>
            <a:ext cx="3931920" cy="4617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캔들차트 F6.2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분봉 캔들차트 (5분봉 등)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시간대별 평균 수익률 히트맵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요일별 평균 수익률 히트맵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기술지표 패널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RSI · MACD · Signal · Hist · ATR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EMA · SMA · VWAP · Close%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수급 동향 (Phase 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기관·외국인·개인 당일 순매수 금액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리스크 상태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Stop-Loss / 일일한도 / 포지션한도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2-dashboard-bottom.png" id="181" name="Google Shape;1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91640"/>
            <a:ext cx="7116775" cy="4617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포트폴리오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6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0" name="Google Shape;190;p6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1" name="Google Shape;191;p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502920" y="1691640"/>
            <a:ext cx="3931920" cy="4617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요약 수치 (상단 카드)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보유 종목 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평가손익 (원)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잔여예수금 (원)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총기자산 (원)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보유 포지션 테이블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종목코드 · 종목명 · 보유수량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매수단가 · 현재가 · 평가손익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수익률(%) · 비중(%)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종목 선택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행 클릭 → 대시보드 자동 이동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3-portfolio.png" id="193" name="Google Shape;1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91640"/>
            <a:ext cx="7116775" cy="4617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전략·스크리너 — 필터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7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2" name="Google Shape;202;p7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3" name="Google Shape;203;p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502920" y="1691640"/>
            <a:ext cx="3931920" cy="4617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9가지 필터 조건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마켓: KRX / KOSPI / KOSDAQ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시그널: 전체 / BUY / SELL / HOLD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RSI 범위: 최솟값 ~ 최댓값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최소 거래량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종가 범위: 하한 ~ 상한 (원)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최소 ESG 점수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최대 공매도 비율(%)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결과 수 제한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실행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스크리닝 버튼 → 결과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↺백테스팅 링크로 바로 이동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4-strategy-screener.png" id="205" name="Google Shape;2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91640"/>
            <a:ext cx="7116775" cy="4617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전략·스크리너 — 스크리닝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8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4" name="Google Shape;214;p8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5" name="Google Shape;215;p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502920" y="1691640"/>
            <a:ext cx="3931920" cy="4617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결과 요약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스캔 종목 수 / 매칭 종목 수 표시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결과 테이블 컬럼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종목코드 · 종목명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현재가 · 거래량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RSI · 시그널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ESG · 공매도%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시그널 색상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BUY = 파랑 / SELL = 빨강 / HOLD = 회색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종목 선택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행 클릭 → 해당 종목 대시보드로 이동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4-strategy-screener-results.png" id="217" name="Google Shape;2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91640"/>
            <a:ext cx="7116775" cy="4617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리스크 모니터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9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6" name="Google Shape;226;p9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7" name="Google Shape;227;p9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502920" y="1691640"/>
            <a:ext cx="3931920" cy="4617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종목 조회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종목코드 입력 후 조회 버튼 클릭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대시보드 선택 종목 자동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시장정보 패널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KRX 시장경보 레벨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경보없음(정상) / 경보 1~3단계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공매도 추이 패널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일별 공매도 수량 및 비율 통계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데이터 없을 시 '데이터없음' 표시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5-risk.png" id="229" name="Google Shape;2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91640"/>
            <a:ext cx="7116775" cy="4617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백테스팅 — 규칙기반 전략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10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8" name="Google Shape;238;p10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9" name="Google Shape;239;p10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502920" y="1691640"/>
            <a:ext cx="3931920" cy="4617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전략 선택 (4종)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SMA 교차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RSI 임계값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MACD 교차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Q-러닝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기간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60 / 180 / 365 / 730일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결과 메트릭 (5종)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총수익률 · 샤프지수 · 최대낙폭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승률 · 총거래수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6-backtest.png"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91640"/>
            <a:ext cx="7116775" cy="4617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백테스팅 — 강화학습(RL) 전략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11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0" name="Google Shape;250;p11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1" name="Google Shape;251;p11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502920" y="1691640"/>
            <a:ext cx="3931920" cy="4617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알고리즘 (4종)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DQN (Deep Q-Network)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PPO (Proximal Policy Opt.)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A2C (Advantage Actor-Critic)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QR-DQN (Quantile Regression)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파라미터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기간: 60/180/365/730일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에피소드 수 (기본 50회)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주의사항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학습 시 수 분 소요될 수 있음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완료 후 5종 결과 메트릭 자동 표시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6-backtest-rl-tab.png" id="253" name="Google Shape;2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91640"/>
            <a:ext cx="7116775" cy="4617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에이전트 분석 — 6단계 자동 파이프라인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12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2" name="Google Shape;262;p12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3" name="Google Shape;263;p12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502920" y="1691640"/>
            <a:ext cx="3931920" cy="4617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실행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종목코드·페르소나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에이전트 실행 버튼 클릭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6단계 파이프라인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01 시세 수집 완료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02 기술지표·예측 해석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03 페르소나 비중 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04 수급 데이터 처리 (없으면 degrade)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05 시장정보 레벨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06 최종 시그널 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9BD6"/>
                </a:solidFill>
                <a:latin typeface="Arial"/>
                <a:ea typeface="Arial"/>
                <a:cs typeface="Arial"/>
                <a:sym typeface="Arial"/>
              </a:rPr>
              <a:t>최종 출력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시그널 · 신뢰도% · 포지션비중% · 근거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7-agents.png" id="265" name="Google Shape;2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91640"/>
            <a:ext cx="7116775" cy="4617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사이드바 · 페르소나 · 서비스 상태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13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4" name="Google Shape;274;p13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5" name="Google Shape;275;p13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 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Source: 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411480" y="137160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2148840" y="1371600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8275319" y="1371600"/>
            <a:ext cx="350489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" name="Google Shape;281;p13"/>
          <p:cNvCxnSpPr/>
          <p:nvPr/>
        </p:nvCxnSpPr>
        <p:spPr>
          <a:xfrm>
            <a:off x="411480" y="1664208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2" name="Google Shape;282;p13"/>
          <p:cNvSpPr/>
          <p:nvPr/>
        </p:nvSpPr>
        <p:spPr>
          <a:xfrm>
            <a:off x="411480" y="1828800"/>
            <a:ext cx="1554480" cy="1219199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411480" y="1828800"/>
            <a:ext cx="1554480" cy="1219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네비게이션 &amp; 페르소나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2148840" y="1783080"/>
            <a:ext cx="5943600" cy="14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사이드바: 6개 메뉴 (대시보드/포트폴리오/전략/리스크/백테스팅/에이전트)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스캘퍼: 초단타 1~5분 스캘핑 전략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데이: 당일 청산 일봉 전략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스윙: 수일~수주 중기 전략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포지션: 장기 추세 추종 전략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8275319" y="1783080"/>
            <a:ext cx="3504895" cy="14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페르소나 전환 즉시 에이전트 비중 재산정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활성 페르소나 강조 표시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13"/>
          <p:cNvCxnSpPr/>
          <p:nvPr/>
        </p:nvCxnSpPr>
        <p:spPr>
          <a:xfrm>
            <a:off x="411480" y="323088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7" name="Google Shape;287;p13"/>
          <p:cNvSpPr/>
          <p:nvPr/>
        </p:nvSpPr>
        <p:spPr>
          <a:xfrm>
            <a:off x="411480" y="3322319"/>
            <a:ext cx="1554480" cy="1219199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411480" y="3322319"/>
            <a:ext cx="1554480" cy="1219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서비스 상태 도트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2148840" y="3276599"/>
            <a:ext cx="5943600" cy="14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ingest: 시세 수집 서비스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analysis: 기술지표 분석 엔진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agents: 에이전트 의사결정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risk: 리스크 모니터링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8275319" y="3276599"/>
            <a:ext cx="3504895" cy="14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녹색 = 정상 작동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적색 = 연결불가·장애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회색 = 상태 확인중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13"/>
          <p:cNvCxnSpPr/>
          <p:nvPr/>
        </p:nvCxnSpPr>
        <p:spPr>
          <a:xfrm>
            <a:off x="411480" y="4724399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13"/>
          <p:cNvSpPr/>
          <p:nvPr/>
        </p:nvSpPr>
        <p:spPr>
          <a:xfrm>
            <a:off x="411480" y="4815839"/>
            <a:ext cx="1554480" cy="1219199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 txBox="1"/>
          <p:nvPr/>
        </p:nvSpPr>
        <p:spPr>
          <a:xfrm>
            <a:off x="411480" y="4815839"/>
            <a:ext cx="1554480" cy="1219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기타 기능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2148840" y="4770119"/>
            <a:ext cx="5943600" cy="14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TopBar ☀/🌙 버튼: 다크/라이트 모드 토글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사이드바 하단: 로그인 사용자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로그아웃: 사이드바 하단 버튼 클릭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8275319" y="4770119"/>
            <a:ext cx="3504895" cy="14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모든 페이지 동일한 사이드바 사용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종목 변경: TopBar 검색창으로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Stock Trader v2.31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4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주요 사용 시나리오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4"/>
          <p:cNvCxnSpPr/>
          <p:nvPr/>
        </p:nvCxnSpPr>
        <p:spPr>
          <a:xfrm>
            <a:off x="411480" y="105156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4" name="Google Shape;304;p14"/>
          <p:cNvCxnSpPr/>
          <p:nvPr/>
        </p:nvCxnSpPr>
        <p:spPr>
          <a:xfrm>
            <a:off x="411480" y="6446520"/>
            <a:ext cx="11368735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5" name="Google Shape;305;p14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 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Source: 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ⓒ 2026 AX Labs 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411480" y="2331720"/>
            <a:ext cx="2759887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411480" y="2331720"/>
            <a:ext cx="2759887" cy="4572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502920" y="2331720"/>
            <a:ext cx="25770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A. 종목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1599399" y="1874519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 txBox="1"/>
          <p:nvPr/>
        </p:nvSpPr>
        <p:spPr>
          <a:xfrm>
            <a:off x="1599399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502920" y="2834639"/>
            <a:ext cx="2577007" cy="33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TopBar에서 종목코드 검색 후 조회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현재가·RSI·볼린저 지표 카드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에이전트 실행 → BUY/SELL/HOLD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신뢰도·포지션 비중·근거 검토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3281095" y="2331720"/>
            <a:ext cx="2759887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3281095" y="2331720"/>
            <a:ext cx="2759887" cy="4572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3372535" y="2331720"/>
            <a:ext cx="25770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B. 종목 탐색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4469015" y="1874519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4469015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3372535" y="2834639"/>
            <a:ext cx="2577007" cy="33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전략·스크리너 필터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스크리닝 실행 → 매칭 종목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결과 행 클릭 → 대시보드 이동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에이전트 실행으로 즉시 판단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6150711" y="2331720"/>
            <a:ext cx="2759887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6150711" y="2331720"/>
            <a:ext cx="2759887" cy="4572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6242151" y="2331720"/>
            <a:ext cx="25770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C. 전략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338631" y="1874519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7338631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6242151" y="2834639"/>
            <a:ext cx="2577007" cy="33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백테스팅 규칙기반 전략 선택·실행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수익률·샤프지수·최대낙폭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RL 탭 전환 → DQN/PPO 비교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최적 전략·기간 조합 선정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9020327" y="2331720"/>
            <a:ext cx="2759887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9020327" y="2331720"/>
            <a:ext cx="2759887" cy="4572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9111767" y="2331720"/>
            <a:ext cx="257700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D. 리스크 점검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10208247" y="1874519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A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10208247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F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1F3D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 txBox="1"/>
          <p:nvPr/>
        </p:nvSpPr>
        <p:spPr>
          <a:xfrm>
            <a:off x="9111767" y="2834639"/>
            <a:ext cx="2577007" cy="33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포트폴리오 보유 종목 손익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Stop-Loss·일일한도·포지션한도 점검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리스크 모니터 종목코드 조회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시장 경보·공매도 추이 이상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