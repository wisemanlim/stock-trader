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463040"/>
            <a:ext cx="45720" cy="3840480"/>
          </a:xfrm>
          <a:prstGeom prst="rect">
            <a:avLst/>
          </a:prstGeom>
          <a:solidFill>
            <a:srgbClr val="5BA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Stock Trader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468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5BA3F5"/>
                </a:solidFill>
              </a:rPr>
              <a:t>AI 기반 주식 트레이딩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200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사용자 가이드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023360"/>
            <a:ext cx="7315200" cy="27432"/>
          </a:xfrm>
          <a:prstGeom prst="rect">
            <a:avLst/>
          </a:prstGeom>
          <a:solidFill>
            <a:srgbClr val="2A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160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</a:rPr>
              <a:t>Ver 1.0  ·  2026-06-19  ·  SIMULATION MODE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1371600"/>
            <a:ext cx="2103120" cy="457200"/>
          </a:xfrm>
          <a:prstGeom prst="rect">
            <a:avLst/>
          </a:prstGeom>
          <a:solidFill>
            <a:srgbClr val="1A3A6A"/>
          </a:solidFill>
          <a:ln>
            <a:solidFill>
              <a:srgbClr val="5BA3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46920" y="140817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BA3F5"/>
                </a:solidFill>
              </a:rPr>
              <a:t>SIMULATION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D1B2A"/>
                </a:solidFill>
              </a:rPr>
              <a:t>목  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11612880" cy="36576"/>
          </a:xfrm>
          <a:prstGeom prst="rect">
            <a:avLst/>
          </a:prstGeom>
          <a:solidFill>
            <a:srgbClr val="DDE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411480" cy="4114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704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시작하기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225296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회원가입  ·  로그인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56231"/>
            <a:ext cx="411480" cy="4114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85623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대시보드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911095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종목 조회  ·  차트  ·  기술지표  ·  빠른매수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42032"/>
            <a:ext cx="411480" cy="4114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5420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560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포트폴리오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596896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보유 종목 현황  ·  손익 조회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227832"/>
            <a:ext cx="411480" cy="4114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32278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246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전략 스크리너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282696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조건 설정  ·  스크리닝 실행  ·  결과 조회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913632"/>
            <a:ext cx="411480" cy="4114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9136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리스크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968496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시장경보  ·  공매도 현황  ·  조회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599432"/>
            <a:ext cx="411480" cy="4114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45994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17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백테스트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654296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규칙 기반  ·  강화학습(RL)  ·  성과 지표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285232"/>
            <a:ext cx="411480" cy="4114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52852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303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AI 에이전트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5340096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멀티에이전트 실행  ·  매매 신호  ·  분석 근거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971032"/>
            <a:ext cx="411480" cy="4114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9710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989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마이페이지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6025896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비밀번호  ·  예수금  ·  TOTP 2FA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00" y="0"/>
            <a:ext cx="301752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1A2E4A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73E8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시작하기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BA3F5"/>
                </a:solidFill>
              </a:rPr>
              <a:t>Getting Started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669280"/>
            <a:ext cx="11612880" cy="457200"/>
          </a:xfrm>
          <a:prstGeom prst="rect">
            <a:avLst/>
          </a:prstGeom>
          <a:solidFill>
            <a:srgbClr val="0A1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56875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회원가입  ·  이메일 로그인  ·  세션 관리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1.1  회원가입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01 · 시작하기</a:t>
            </a:r>
          </a:p>
        </p:txBody>
      </p:sp>
      <p:pic>
        <p:nvPicPr>
          <p:cNvPr id="5" name="Picture 4" descr="00-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📝  </a:t>
            </a:r>
            <a:r>
              <a:rPr sz="1200">
                <a:solidFill>
                  <a:srgbClr val="2C3E50"/>
                </a:solidFill>
              </a:rPr>
              <a:t>이메일, 이름, 비밀번호를 입력하여 계정을 생성합니다.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가입 후 자동으로 로그인 화면으로 이동합니다. 이미 계정이 있으면 「로그인」 링크를 클릭하세요.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1.2  로그인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01 · 시작하기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🔐  </a:t>
            </a:r>
            <a:r>
              <a:rPr sz="1200">
                <a:solidFill>
                  <a:srgbClr val="2C3E50"/>
                </a:solidFill>
              </a:rPr>
              <a:t>등록된 이메일과 비밀번호를 입력하고 Enter 또는 로그인 버튼을 클릭합니다.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보안을 위해 이메일 주소는 마스킹 처리됩니다. TOTP 2FA 활성화 시 추가 인증 코드가 필요합니다.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00" y="0"/>
            <a:ext cx="301752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1A2E4A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73E8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대시보드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BA3F5"/>
                </a:solidFill>
              </a:rPr>
              <a:t>Dashboard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669280"/>
            <a:ext cx="11612880" cy="457200"/>
          </a:xfrm>
          <a:prstGeom prst="rect">
            <a:avLst/>
          </a:prstGeom>
          <a:solidFill>
            <a:srgbClr val="0A1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56875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종목 선택  ·  현재가·RSI·볼린저  ·  캔들 차트  ·  기술지표  ·  수급 동향  ·  빠른매수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2.1  대시보드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02 · 대시보드</a:t>
            </a:r>
          </a:p>
        </p:txBody>
      </p:sp>
      <p:pic>
        <p:nvPicPr>
          <p:cNvPr id="5" name="Picture 4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📊  </a:t>
            </a:r>
            <a:r>
              <a:rPr sz="1200">
                <a:solidFill>
                  <a:srgbClr val="2C3E50"/>
                </a:solidFill>
              </a:rPr>
              <a:t>상단 좌측에서 종목코드를 입력하고 「조회」를 클릭하면 해당 종목의 모든 지표가 업데이트됩니다.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5개 메트릭 카드: 현재가 / RSI(14) / 볼린저밴드 / 지표 시그널 / 에이전트 결정. 우측 패널: 기술지표·수급·리스크 상태 표시.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2.2  지니언스 빠른매수 패널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02 · 대시보드</a:t>
            </a:r>
          </a:p>
        </p:txBody>
      </p:sp>
      <p:pic>
        <p:nvPicPr>
          <p:cNvPr id="5" name="Picture 4" descr="02-dashboard-quickbu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⚡  </a:t>
            </a:r>
            <a:r>
              <a:rPr sz="1200">
                <a:solidFill>
                  <a:srgbClr val="2C3E50"/>
                </a:solidFill>
              </a:rPr>
              <a:t>우측 「지니언스 빠른매수(QUICK)」 패널에서 현재가를 자동 조회한 후 10주를 원클릭으로 매수할 수 있습니다.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예상 금액이 자동 계산되며, 버튼 클릭 즉시 가상 체결이 이루어집니다.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2.3  지니언스 10주 매수 체결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02 · 대시보드</a:t>
            </a:r>
          </a:p>
        </p:txBody>
      </p:sp>
      <p:pic>
        <p:nvPicPr>
          <p:cNvPr id="5" name="Picture 4" descr="02-dashboard-quickbuy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✅  </a:t>
            </a:r>
            <a:r>
              <a:rPr sz="1200">
                <a:solidFill>
                  <a:srgbClr val="2C3E50"/>
                </a:solidFill>
              </a:rPr>
              <a:t>「▲ 10주 매수」 클릭 후 가상 체결이 완료되면 체결 정보(종목·수량·체결가)가 녹색으로 표시됩니다.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⚠ 모든 거래는 시뮬레이션(가상) 체결이며 실제 증권사 주문은 발생하지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00" y="0"/>
            <a:ext cx="301752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1A2E4A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73E8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BA3F5"/>
                </a:solidFill>
              </a:rPr>
              <a:t>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669280"/>
            <a:ext cx="11612880" cy="457200"/>
          </a:xfrm>
          <a:prstGeom prst="rect">
            <a:avLst/>
          </a:prstGeom>
          <a:solidFill>
            <a:srgbClr val="0A1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56875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보유 종목 현황  ·  매수단가·현재가  ·  평가손익·수익률  ·  비중 확인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3.1  포트폴리오 조회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03 · 포트폴리오</a:t>
            </a:r>
          </a:p>
        </p:txBody>
      </p:sp>
      <p:pic>
        <p:nvPicPr>
          <p:cNvPr id="5" name="Picture 4" descr="03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💼  </a:t>
            </a:r>
            <a:r>
              <a:rPr sz="1200">
                <a:solidFill>
                  <a:srgbClr val="2C3E50"/>
                </a:solidFill>
              </a:rPr>
              <a:t>보유 종목 수·총 평가손익·전체매수금액·총 잔액(매수금액+수익+예수금)을 상단 카드로 요약합니다.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보유 포지션 테이블: 종목코드, 종목명, 보유수량, 매수단가, 매수총금액, 현재가, 평가손익(%), 비중(%)을 제공합니다.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00" y="0"/>
            <a:ext cx="301752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1A2E4A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73E8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전략 스크리너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BA3F5"/>
                </a:solidFill>
              </a:rPr>
              <a:t>Strategy Screener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669280"/>
            <a:ext cx="11612880" cy="457200"/>
          </a:xfrm>
          <a:prstGeom prst="rect">
            <a:avLst/>
          </a:prstGeom>
          <a:solidFill>
            <a:srgbClr val="0A1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56875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조건 기반 종목 검색  ·  RSI·볼린저·MACD 필터  ·  결과 정렬  ·  대시보드 연동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4.1  전략 스크리너 — 조건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04 · 전략 스크리너</a:t>
            </a:r>
          </a:p>
        </p:txBody>
      </p:sp>
      <p:pic>
        <p:nvPicPr>
          <p:cNvPr id="5" name="Picture 4" descr="04-strategy-scree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🔍  </a:t>
            </a:r>
            <a:r>
              <a:rPr sz="1200">
                <a:solidFill>
                  <a:srgbClr val="2C3E50"/>
                </a:solidFill>
              </a:rPr>
              <a:t>전략(규칙기반·RSI과매도·볼린저 등)을 선택하고 결과 수를 지정합니다.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「스크리닝」 버튼 클릭 시 BFF/analysis 서비스가 전체 종목을 스캔하여 조건에 맞는 종목을 반환합니다.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4.2  스크리닝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04 · 전략 스크리너</a:t>
            </a:r>
          </a:p>
        </p:txBody>
      </p:sp>
      <p:pic>
        <p:nvPicPr>
          <p:cNvPr id="5" name="Picture 4" descr="04-strategy-screener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📋  </a:t>
            </a:r>
            <a:r>
              <a:rPr sz="1200">
                <a:solidFill>
                  <a:srgbClr val="2C3E50"/>
                </a:solidFill>
              </a:rPr>
              <a:t>스캔 종목 수·매칭 종목 수를 표시하며, 칼럼 헤더 클릭으로 정렬 방향을 변경할 수 있습니다.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결과 종목 행을 클릭하면 해당 종목이 대시보드에 자동 선택됩니다. 「백테스트로 이동」으로 전략 검증을 이어할 수 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00" y="0"/>
            <a:ext cx="301752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1A2E4A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73E8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리스크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BA3F5"/>
                </a:solidFill>
              </a:rPr>
              <a:t>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669280"/>
            <a:ext cx="11612880" cy="457200"/>
          </a:xfrm>
          <a:prstGeom prst="rect">
            <a:avLst/>
          </a:prstGeom>
          <a:solidFill>
            <a:srgbClr val="0A1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56875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시장경보 조회  ·  공매도 현황  ·  투자주의·경고·위험 등급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5.1  리스크 관리 — 조회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05 · 리스크 관리</a:t>
            </a:r>
          </a:p>
        </p:txBody>
      </p:sp>
      <p:pic>
        <p:nvPicPr>
          <p:cNvPr id="5" name="Picture 4" descr="05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⚠️  </a:t>
            </a:r>
            <a:r>
              <a:rPr sz="1200">
                <a:solidFill>
                  <a:srgbClr val="2C3E50"/>
                </a:solidFill>
              </a:rPr>
              <a:t>종목코드를 입력하고 「조회」 버튼을 클릭하면 KRX 시장경보와 공매도 데이터를 불러옵니다.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시장경보 등급: 투자주의(파랑) · 투자경고(주황) · 투자위험(빨강). 등급에 따라 매매 리스크를 판단하세요.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5.2  리스크 — 조회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05 · 리스크 관리</a:t>
            </a:r>
          </a:p>
        </p:txBody>
      </p:sp>
      <p:pic>
        <p:nvPicPr>
          <p:cNvPr id="5" name="Picture 4" descr="05-risk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📉  </a:t>
            </a:r>
            <a:r>
              <a:rPr sz="1200">
                <a:solidFill>
                  <a:srgbClr val="2C3E50"/>
                </a:solidFill>
              </a:rPr>
              <a:t>시장경보 발령 종목 목록과 경보 등급·날짜가 표시됩니다.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공매도 섹션에서는 일자별 공매도 비율(%) 추이를 확인하여 하방 압력을 사전에 파악할 수 있습니다.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00" y="0"/>
            <a:ext cx="301752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1A2E4A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73E8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백테스트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BA3F5"/>
                </a:solidFill>
              </a:rPr>
              <a:t>Backtesting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669280"/>
            <a:ext cx="11612880" cy="457200"/>
          </a:xfrm>
          <a:prstGeom prst="rect">
            <a:avLst/>
          </a:prstGeom>
          <a:solidFill>
            <a:srgbClr val="0A1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56875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규칙 기반 전략  ·  강화학습(RL) 전략  ·  수익률·MDD·샤프 비율  ·  수익 곡선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6.1  백테스트 — 기본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06 · 백테스트</a:t>
            </a:r>
          </a:p>
        </p:txBody>
      </p:sp>
      <p:pic>
        <p:nvPicPr>
          <p:cNvPr id="5" name="Picture 4" descr="06-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⚙️  </a:t>
            </a:r>
            <a:r>
              <a:rPr sz="1200">
                <a:solidFill>
                  <a:srgbClr val="2C3E50"/>
                </a:solidFill>
              </a:rPr>
              <a:t>종목코드(대시보드 선택 종목 자동 연동), 기간, 초기 자본, 전략 파라미터를 설정합니다.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「백테스트 실행」을 클릭하면 선택 기간의 과거 데이터를 기반으로 전략을 시뮬레이션합니다.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6.2  백테스트 — 실행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06 · 백테스트</a:t>
            </a:r>
          </a:p>
        </p:txBody>
      </p:sp>
      <p:pic>
        <p:nvPicPr>
          <p:cNvPr id="5" name="Picture 4" descr="06-backtest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📈  </a:t>
            </a:r>
            <a:r>
              <a:rPr sz="1200">
                <a:solidFill>
                  <a:srgbClr val="2C3E50"/>
                </a:solidFill>
              </a:rPr>
              <a:t>총 수익률, 최대 낙폭(MDD), 샤프 비율, 총 거래 횟수, 승률 등 주요 성과 지표를 확인합니다.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수익 곡선(Equity Curve) 차트로 전략의 시간별 자본 변화를 시각적으로 분석할 수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6.3  백테스트 — 강화학습(RL) 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06 · 백테스트</a:t>
            </a:r>
          </a:p>
        </p:txBody>
      </p:sp>
      <p:pic>
        <p:nvPicPr>
          <p:cNvPr id="5" name="Picture 4" descr="06-backtest-rl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🤖  </a:t>
            </a:r>
            <a:r>
              <a:rPr sz="1200">
                <a:solidFill>
                  <a:srgbClr val="2C3E50"/>
                </a:solidFill>
              </a:rPr>
              <a:t>RL 탭에서는 analysis 서비스의 강화학습 에이전트(PPO/SAC)를 기반으로 백테스트를 실행합니다.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학습된 RL 에이전트의 과거 성과를 평가하고 규칙 기반 전략과 비교할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00" y="0"/>
            <a:ext cx="301752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1A2E4A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73E8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AI 에이전트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BA3F5"/>
                </a:solidFill>
              </a:rPr>
              <a:t>AI Agents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669280"/>
            <a:ext cx="11612880" cy="457200"/>
          </a:xfrm>
          <a:prstGeom prst="rect">
            <a:avLst/>
          </a:prstGeom>
          <a:solidFill>
            <a:srgbClr val="0A1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56875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멀티에이전트 분석  ·  BUY·SELL·HOLD 신호  ·  비중·신뢰도  ·  분석 근거 제공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7.1  AI 에이전트 —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07 · AI 에이전트</a:t>
            </a:r>
          </a:p>
        </p:txBody>
      </p:sp>
      <p:pic>
        <p:nvPicPr>
          <p:cNvPr id="5" name="Picture 4" descr="07-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🤖  </a:t>
            </a:r>
            <a:r>
              <a:rPr sz="1200">
                <a:solidFill>
                  <a:srgbClr val="2C3E50"/>
                </a:solidFill>
              </a:rPr>
              <a:t>종목코드와 페르소나(스캘퍼·데이·스윙·포지션)를 선택하고 「에이전트 실행」을 클릭합니다.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기술지표·뉴스·재무데이터·거시경제를 종합 분석하는 멀티에이전트 파이프라인이 시작됩니다.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7.2  AI 에이전트 —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07 · AI 에이전트</a:t>
            </a:r>
          </a:p>
        </p:txBody>
      </p:sp>
      <p:pic>
        <p:nvPicPr>
          <p:cNvPr id="5" name="Picture 4" descr="07-agents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💡  </a:t>
            </a:r>
            <a:r>
              <a:rPr sz="1200">
                <a:solidFill>
                  <a:srgbClr val="2C3E50"/>
                </a:solidFill>
              </a:rPr>
              <a:t>BUY / SELL / HOLD 매매 신호와 함께 포지션 비중(%), 신뢰도(%)를 제공합니다.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각 에이전트(기술·뉴스·RAG·리스크)의 세부 판단 근거가 표시되어 의사결정을 지원합니다.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00" y="0"/>
            <a:ext cx="301752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1A2E4A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73E8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마이페이지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BA3F5"/>
                </a:solidFill>
              </a:rPr>
              <a:t>My Page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669280"/>
            <a:ext cx="11612880" cy="457200"/>
          </a:xfrm>
          <a:prstGeom prst="rect">
            <a:avLst/>
          </a:prstGeom>
          <a:solidFill>
            <a:srgbClr val="0A1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56875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</a:rPr>
              <a:t>비밀번호 변경  ·  예수금 관리  ·  TOTP 2단계 인증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8.1  마이페이지 — 비밀번호 변경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08 · 마이페이지</a:t>
            </a:r>
          </a:p>
        </p:txBody>
      </p:sp>
      <p:pic>
        <p:nvPicPr>
          <p:cNvPr id="5" name="Picture 4" descr="08-mypage-passw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🔑  </a:t>
            </a:r>
            <a:r>
              <a:rPr sz="1200">
                <a:solidFill>
                  <a:srgbClr val="2C3E50"/>
                </a:solidFill>
              </a:rPr>
              <a:t>좌측 사이드바 하단 사용자 이름 옆 ⚙ 버튼을 클릭하면 마이페이지 패널이 열립니다.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「비밀번호」 탭에서 현재 비밀번호와 새 비밀번호를 입력하고 변경을 완료합니다.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8.2  마이페이지 — 예수금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08 · 마이페이지</a:t>
            </a:r>
          </a:p>
        </p:txBody>
      </p:sp>
      <p:pic>
        <p:nvPicPr>
          <p:cNvPr id="5" name="Picture 4" descr="08-mypage-c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💰  </a:t>
            </a:r>
            <a:r>
              <a:rPr sz="1200">
                <a:solidFill>
                  <a:srgbClr val="2C3E50"/>
                </a:solidFill>
              </a:rPr>
              <a:t>「예수금」 탭에서 현재 예수금 잔액을 확인하고 가상 입금을 진행할 수 있습니다.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입금 금액을 입력하고 확인 버튼을 클릭하면 paper_book 원장에 즉시 반영됩니다.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8.3  마이페이지 — TOTP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08 · 마이페이지</a:t>
            </a:r>
          </a:p>
        </p:txBody>
      </p:sp>
      <p:pic>
        <p:nvPicPr>
          <p:cNvPr id="5" name="Picture 4" descr="08-mypage-to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🔒  </a:t>
            </a:r>
            <a:r>
              <a:rPr sz="1200">
                <a:solidFill>
                  <a:srgbClr val="2C3E50"/>
                </a:solidFill>
              </a:rPr>
              <a:t>「TOTP」 탭에서 2단계 인증을 활성화합니다.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「QR 코드 생성」을 클릭하면 Google Authenticator 등 TOTP 앱에 등록할 QR 코드가 생성됩니다.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8.4  마이페이지 — QR 코드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0"/>
            <a:ext cx="28346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CDDFF"/>
                </a:solidFill>
              </a:rPr>
              <a:t>SECTION 08 · 마이페이지</a:t>
            </a:r>
          </a:p>
        </p:txBody>
      </p:sp>
      <p:pic>
        <p:nvPicPr>
          <p:cNvPr id="5" name="Picture 4" descr="08-mypage-totp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12188952" cy="53583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25312"/>
            <a:ext cx="11640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</a:rPr>
              <a:t>📱  </a:t>
            </a:r>
            <a:r>
              <a:rPr sz="1200">
                <a:solidFill>
                  <a:srgbClr val="2C3E50"/>
                </a:solidFill>
              </a:rPr>
              <a:t>생성된 QR 코드를 TOTP 앱(Google Authenticator, Authy 등)으로 스캔합니다.</a:t>
            </a:r>
          </a:p>
          <a:p>
            <a:pPr algn="l"/>
            <a:r>
              <a:rPr sz="1200">
                <a:solidFill>
                  <a:srgbClr val="2C3E50"/>
                </a:solidFill>
              </a:rPr>
              <a:t>앱에 표시된 6자리 코드를 입력하고 「활성화」를 클릭하면 2단계 인증 설정이 완료됩니다.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